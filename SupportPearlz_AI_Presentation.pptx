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· ACADEMIC VIVA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SupportPearlz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 Support RAG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Retrieval-Augmented Generation for Pearlz Home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16294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5468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Usman Sultan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5833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&amp; Developer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support bots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pic>
        <p:nvPicPr>
          <p:cNvPr id="6" name="Image 0" descr="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2376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customer service bots frequently hallucinate, lack domain-specific context, and provide inaccurate information.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40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23" y="23763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063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Need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56616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Pearlz Home Systems required a reliable, strictly grounded assistant capable of answering complex queries using official documentation.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40280"/>
            <a:ext cx="566928" cy="566928"/>
          </a:xfrm>
          <a:prstGeom prst="ellipse">
            <a:avLst/>
          </a:prstGeom>
          <a:solidFill>
            <a:srgbClr val="3FD1B0"/>
          </a:solidFill>
          <a:ln/>
        </p:spPr>
      </p:sp>
      <p:pic>
        <p:nvPicPr>
          <p:cNvPr id="16" name="Image 2" descr="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263" y="237634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63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566160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secure, production-ready RAG application guaranteeing 100% factual adherence to source documents, with zero tolerance for guesswork.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SupportPearlz?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enterprise chatbot built specifically to assist customers and support agents with product manuals, warranties, and shipping policies.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86390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715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Value Proposition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306324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advanced LLM reasoning (gpt-4o-mini) with rigorous local vector search (FAISS) for complete transparency and precise citations.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42812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Model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448056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live on Streamlit Cloud with an enterprise-grade security layer protecting every session.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60920" y="141732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0E1B33"/>
          </a:solidFill>
          <a:ln/>
        </p:spPr>
      </p:sp>
      <p:sp>
        <p:nvSpPr>
          <p:cNvPr id="14" name="Text 10"/>
          <p:cNvSpPr/>
          <p:nvPr/>
        </p:nvSpPr>
        <p:spPr>
          <a:xfrm>
            <a:off x="77266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26680" y="233172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16294A"/>
          </a:solidFill>
          <a:ln/>
        </p:spPr>
      </p:sp>
      <p:sp>
        <p:nvSpPr>
          <p:cNvPr id="16" name="Text 12"/>
          <p:cNvSpPr/>
          <p:nvPr/>
        </p:nvSpPr>
        <p:spPr>
          <a:xfrm>
            <a:off x="795528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gpt-4o-mini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552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Engine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26680" y="329184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16294A"/>
          </a:solidFill>
          <a:ln/>
        </p:spPr>
      </p:sp>
      <p:sp>
        <p:nvSpPr>
          <p:cNvPr id="19" name="Text 15"/>
          <p:cNvSpPr/>
          <p:nvPr/>
        </p:nvSpPr>
        <p:spPr>
          <a:xfrm>
            <a:off x="795528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95528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Search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726680" y="425196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16294A"/>
          </a:solidFill>
          <a:ln/>
        </p:spPr>
      </p:sp>
      <p:sp>
        <p:nvSpPr>
          <p:cNvPr id="22" name="Text 18"/>
          <p:cNvSpPr/>
          <p:nvPr/>
        </p:nvSpPr>
        <p:spPr>
          <a:xfrm>
            <a:off x="795528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text-embedding-3-small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95528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726680" y="5212080"/>
            <a:ext cx="3474720" cy="777240"/>
          </a:xfrm>
          <a:prstGeom prst="roundRect">
            <a:avLst>
              <a:gd name="adj" fmla="val 7059"/>
            </a:avLst>
          </a:prstGeom>
          <a:solidFill>
            <a:srgbClr val="16294A"/>
          </a:solidFill>
          <a:ln/>
        </p:spPr>
      </p:sp>
      <p:sp>
        <p:nvSpPr>
          <p:cNvPr id="25" name="Text 21"/>
          <p:cNvSpPr/>
          <p:nvPr/>
        </p:nvSpPr>
        <p:spPr>
          <a:xfrm>
            <a:off x="7955280" y="5303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Cloud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955280" y="5623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Hosting &amp; UI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grounded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90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47672"/>
            <a:ext cx="18982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Knowledge Base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4678" y="213055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49270" y="187452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2422" y="1947672"/>
            <a:ext cx="18982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Loader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3869" y="213055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58461" y="187452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1613" y="1947672"/>
            <a:ext cx="18982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Char. Text Splitter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3059" y="213055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67651" y="187452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0803" y="1947672"/>
            <a:ext cx="18982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(text-embedding-3-small)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12250" y="213055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76842" y="1874520"/>
            <a:ext cx="204459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9994" y="1947672"/>
            <a:ext cx="18982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8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167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86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593592"/>
            <a:ext cx="153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16480" y="37764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481072" y="3520440"/>
            <a:ext cx="167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862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4224" y="3593592"/>
            <a:ext cx="153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Session API Key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57472" y="37764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22064" y="3520440"/>
            <a:ext cx="167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86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5216" y="3593592"/>
            <a:ext cx="153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Retriever (k=4)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98464" y="37764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3056" y="3520440"/>
            <a:ext cx="167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862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593592"/>
            <a:ext cx="153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Prompt Template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39456" y="37764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04048" y="3520440"/>
            <a:ext cx="167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862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77200" y="3593592"/>
            <a:ext cx="153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80448" y="37764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845040" y="3520440"/>
            <a:ext cx="1676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B862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18192" y="3593592"/>
            <a:ext cx="1530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E1B33"/>
          </a:solidFill>
          <a:ln/>
        </p:spPr>
      </p:sp>
      <p:sp>
        <p:nvSpPr>
          <p:cNvPr id="38" name="Shape 36"/>
          <p:cNvSpPr/>
          <p:nvPr/>
        </p:nvSpPr>
        <p:spPr>
          <a:xfrm>
            <a:off x="868680" y="5440680"/>
            <a:ext cx="548640" cy="548640"/>
          </a:xfrm>
          <a:prstGeom prst="ellipse">
            <a:avLst/>
          </a:prstGeom>
          <a:solidFill>
            <a:srgbClr val="3FD1B0"/>
          </a:solidFill>
          <a:ln/>
        </p:spPr>
      </p:sp>
      <p:pic>
        <p:nvPicPr>
          <p:cNvPr id="39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5572354"/>
            <a:ext cx="285293" cy="285293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600200" y="54406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Modularity:  </a:t>
            </a:r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decoupled architecture organized into distinct functional packages — chains, retrieval, ingestion, and utils.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INGESTION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Precision-tuned for policy-grade 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B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D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Custom-authored synthetic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(.md) files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B3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D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6344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chunk size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semantic precision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0E1B3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011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D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1248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overlap to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context loss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3159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4447642"/>
            <a:ext cx="285293" cy="28529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3159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Scope:  </a:t>
            </a:r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product manuals, troubleshooting FAQs, and warranty/return policies.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5550408"/>
            <a:ext cx="548640" cy="548640"/>
          </a:xfrm>
          <a:prstGeom prst="ellipse">
            <a:avLst/>
          </a:prstGeom>
          <a:solidFill>
            <a:srgbClr val="B8622E"/>
          </a:solidFill>
          <a:ln/>
        </p:spPr>
      </p:sp>
      <p:pic>
        <p:nvPicPr>
          <p:cNvPr id="19" name="Image 1" descr="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5682082"/>
            <a:ext cx="285293" cy="2852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00200" y="55504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Auto-Builder Fallback:  </a:t>
            </a:r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cloud initialization logic automatically compiles the FAISS index on startup if persistent files are missing.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CLOUD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Zero-trust credential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0E1B3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3FD1B0"/>
          </a:solidFill>
          <a:ln/>
        </p:spPr>
      </p:sp>
      <p:pic>
        <p:nvPicPr>
          <p:cNvPr id="6" name="Image 0" descr="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2376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Protection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hardcoded credentials or exposed .env files on GitHub — fully satisfying repository security requirements via .gitignore.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0E1B33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240280"/>
            <a:ext cx="566928" cy="566928"/>
          </a:xfrm>
          <a:prstGeom prst="ellipse">
            <a:avLst/>
          </a:prstGeom>
          <a:solidFill>
            <a:srgbClr val="3FD1B0"/>
          </a:solidFill>
          <a:ln/>
        </p:spPr>
      </p:sp>
      <p:pic>
        <p:nvPicPr>
          <p:cNvPr id="11" name="Image 1" descr="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223" y="23763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Authentication Gate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033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securely provide their own OpenAI credentials dynamically through a password-masked UI login screen.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0E1B33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240280"/>
            <a:ext cx="566928" cy="566928"/>
          </a:xfrm>
          <a:prstGeom prst="ellipse">
            <a:avLst/>
          </a:prstGeom>
          <a:solidFill>
            <a:srgbClr val="3FD1B0"/>
          </a:solidFill>
          <a:ln/>
        </p:spPr>
      </p:sp>
      <p:pic>
        <p:nvPicPr>
          <p:cNvPr id="16" name="Image 2" descr="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263" y="237634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063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Scope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70332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stored safely only within the active Streamlit session state and wiped upon logout.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UNANSWERABLE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model strictly in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04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43596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Grounding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77840" y="21305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instructions mandate that the LLM answer only using retrieved context — never external knowledge.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7673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8990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593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Mechanism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77840" y="35935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queries fall outside the knowledge base scope, the system explicitly refuses to answer and directs users to human escalation routes.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2303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536204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5056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Defense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577840" y="505663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attempts embedded in user queries or documents are successfully treated as plain data, not instructions.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TESTING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accuracy, not assumed 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0E1B3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Hit@4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463040" y="3749040"/>
            <a:ext cx="1783080" cy="0"/>
          </a:xfrm>
          <a:prstGeom prst="line">
            <a:avLst/>
          </a:prstGeom>
          <a:noFill/>
          <a:ln w="12700">
            <a:solidFill>
              <a:srgbClr val="2C3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relevance from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chunking &amp; semantic tuning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0E1B3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212080" y="3749040"/>
            <a:ext cx="1783080" cy="0"/>
          </a:xfrm>
          <a:prstGeom prst="line">
            <a:avLst/>
          </a:prstGeom>
          <a:noFill/>
          <a:ln w="12700">
            <a:solidFill>
              <a:srgbClr val="2C3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 suite covering in-scope,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&amp; adversarial prompts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0E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377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FD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8961120" y="3749040"/>
            <a:ext cx="1783080" cy="0"/>
          </a:xfrm>
          <a:prstGeom prst="line">
            <a:avLst/>
          </a:prstGeom>
          <a:noFill/>
          <a:ln w="12700">
            <a:solidFill>
              <a:srgbClr val="2C3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count on in-scope data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strict LCEL prompt constraints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walkthrough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0A1428"/>
          </a:solidFill>
          <a:ln w="12700">
            <a:solidFill>
              <a:srgbClr val="2C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6583680" cy="411480"/>
          </a:xfrm>
          <a:prstGeom prst="roundRect">
            <a:avLst>
              <a:gd name="adj" fmla="val 17778"/>
            </a:avLst>
          </a:prstGeom>
          <a:solidFill>
            <a:srgbClr val="1629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46504"/>
            <a:ext cx="128016" cy="128016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1746504"/>
            <a:ext cx="128016" cy="128016"/>
          </a:xfrm>
          <a:prstGeom prst="ellipse">
            <a:avLst/>
          </a:prstGeom>
          <a:solidFill>
            <a:srgbClr val="E0A93E"/>
          </a:solidFill>
          <a:ln/>
        </p:spPr>
      </p:sp>
      <p:sp>
        <p:nvSpPr>
          <p:cNvPr id="8" name="Shape 6"/>
          <p:cNvSpPr/>
          <p:nvPr/>
        </p:nvSpPr>
        <p:spPr>
          <a:xfrm>
            <a:off x="1380744" y="1746504"/>
            <a:ext cx="128016" cy="128016"/>
          </a:xfrm>
          <a:prstGeom prst="ellipse">
            <a:avLst/>
          </a:prstGeom>
          <a:solidFill>
            <a:srgbClr val="3FD1B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support-pearlz.streamlit.app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 →  masked API key entry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788920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16294A"/>
          </a:solidFill>
          <a:ln w="12700">
            <a:solidFill>
              <a:srgbClr val="2C3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88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••••••••••••••••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520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SupportPearlz: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886200"/>
            <a:ext cx="5852160" cy="777240"/>
          </a:xfrm>
          <a:prstGeom prst="roundRect">
            <a:avLst>
              <a:gd name="adj" fmla="val 5882"/>
            </a:avLst>
          </a:prstGeom>
          <a:solidFill>
            <a:srgbClr val="1629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977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warranty period for AquaPearl 500?”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8463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chunks: warranty_policy.md · aquapearl_manual.md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43800" y="1691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TOPICS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210312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103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AquaPearl 500 Warranty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269748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2697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Policies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43800" y="3291840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16294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3291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Refund Process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43800" y="41605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43800" y="452628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6294A"/>
          </a:solidFill>
          <a:ln/>
        </p:spPr>
      </p:sp>
      <p:sp>
        <p:nvSpPr>
          <p:cNvPr id="26" name="Text 24"/>
          <p:cNvSpPr/>
          <p:nvPr/>
        </p:nvSpPr>
        <p:spPr>
          <a:xfrm>
            <a:off x="7818120" y="47091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chunk citations alongside clean, user-friendly error messaging for invalid configurations.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achievements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delivered a fully compliant, secure, and robust RAG application meeting all core rubric standards.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D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6294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852928"/>
            <a:ext cx="384048" cy="384048"/>
          </a:xfrm>
          <a:prstGeom prst="ellipse">
            <a:avLst/>
          </a:prstGeom>
          <a:solidFill>
            <a:srgbClr val="3FD1B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651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multi-turn conversation memory with query condensation.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62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813048"/>
            <a:ext cx="384048" cy="384048"/>
          </a:xfrm>
          <a:prstGeom prst="ellipse">
            <a:avLst/>
          </a:prstGeom>
          <a:solidFill>
            <a:srgbClr val="3FD1B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6118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metadata filtering by product lines (doc_type).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2C3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and code walkthrough.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SupportPearlz AI  |  Capstone Viva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2026-09-04T12:55:54Z</dcterms:created>
  <dcterms:modified xsi:type="dcterms:W3CDTF">2026-09-04T12:55:54Z</dcterms:modified>
</cp:coreProperties>
</file>